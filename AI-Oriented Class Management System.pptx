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Inter Bold" charset="1" panose="020B0802030000000004"/>
      <p:regular r:id="rId16"/>
    </p:embeddedFont>
    <p:embeddedFont>
      <p:font typeface="Poppins" charset="1" panose="00000500000000000000"/>
      <p:regular r:id="rId17"/>
    </p:embeddedFont>
    <p:embeddedFont>
      <p:font typeface="Poppins Bold" charset="1" panose="00000800000000000000"/>
      <p:regular r:id="rId18"/>
    </p:embeddedFont>
    <p:embeddedFont>
      <p:font typeface="Poppins Italics" charset="1" panose="000005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14.svg" Type="http://schemas.openxmlformats.org/officeDocument/2006/relationships/image"/><Relationship Id="rId5" Target="../media/image15.png" Type="http://schemas.openxmlformats.org/officeDocument/2006/relationships/image"/><Relationship Id="rId6" Target="../media/image1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png" Type="http://schemas.openxmlformats.org/officeDocument/2006/relationships/image"/><Relationship Id="rId5" Target="../media/image21.png" Type="http://schemas.openxmlformats.org/officeDocument/2006/relationships/image"/><Relationship Id="rId6" Target="../media/image15.png" Type="http://schemas.openxmlformats.org/officeDocument/2006/relationships/image"/><Relationship Id="rId7" Target="../media/image1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pn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13.png" Type="http://schemas.openxmlformats.org/officeDocument/2006/relationships/image"/><Relationship Id="rId4" Target="../media/image1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37069" y="1463585"/>
            <a:ext cx="4677202" cy="5915040"/>
          </a:xfrm>
          <a:custGeom>
            <a:avLst/>
            <a:gdLst/>
            <a:ahLst/>
            <a:cxnLst/>
            <a:rect r="r" b="b" t="t" l="l"/>
            <a:pathLst>
              <a:path h="5915040" w="4677202">
                <a:moveTo>
                  <a:pt x="0" y="0"/>
                </a:moveTo>
                <a:lnTo>
                  <a:pt x="4677202" y="0"/>
                </a:lnTo>
                <a:lnTo>
                  <a:pt x="4677202" y="5915040"/>
                </a:lnTo>
                <a:lnTo>
                  <a:pt x="0" y="59150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001008" y="1501685"/>
            <a:ext cx="8813616" cy="2965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806"/>
              </a:lnSpc>
            </a:pPr>
            <a:r>
              <a:rPr lang="en-US" b="true" sz="5278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AI-Oriented Class Management System for Crisis and Disaster Situations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01008" y="5749779"/>
            <a:ext cx="1721863" cy="216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89"/>
              </a:lnSpc>
            </a:pPr>
            <a:r>
              <a:rPr lang="en-US" sz="1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Platform Type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001008" y="4971662"/>
            <a:ext cx="3631719" cy="431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89"/>
              </a:lnSpc>
            </a:pPr>
            <a:r>
              <a:rPr lang="en-US" sz="1299" spc="18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ENTERPRISE-GRADE EDUCATIONAL PLATFORM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886958" y="5749779"/>
            <a:ext cx="2587681" cy="216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89"/>
              </a:lnSpc>
            </a:pPr>
            <a:r>
              <a:rPr lang="en-US" sz="1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: Full-Stack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760626" y="7415851"/>
            <a:ext cx="3408332" cy="201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83"/>
              </a:lnSpc>
            </a:pPr>
            <a:r>
              <a:rPr lang="en-US" sz="121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Streamlining Education for All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001008" y="6282978"/>
            <a:ext cx="3196828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Developed by Romiz Khan(ID : IT22045)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4895093" y="3483017"/>
            <a:ext cx="8497814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4895093" y="4262102"/>
            <a:ext cx="8497814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4895093" y="4993739"/>
            <a:ext cx="8497814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4895093" y="5691876"/>
            <a:ext cx="8497814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4895093" y="6418625"/>
            <a:ext cx="8497814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4895093" y="7169098"/>
            <a:ext cx="8497814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4895093" y="7908306"/>
            <a:ext cx="8497814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4895093" y="8651209"/>
            <a:ext cx="8497814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5992550" y="9309461"/>
            <a:ext cx="6302900" cy="658117"/>
            <a:chOff x="0" y="0"/>
            <a:chExt cx="2951152" cy="30814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951152" cy="308144"/>
            </a:xfrm>
            <a:custGeom>
              <a:avLst/>
              <a:gdLst/>
              <a:ahLst/>
              <a:cxnLst/>
              <a:rect r="r" b="b" t="t" l="l"/>
              <a:pathLst>
                <a:path h="308144" w="2951152">
                  <a:moveTo>
                    <a:pt x="0" y="0"/>
                  </a:moveTo>
                  <a:lnTo>
                    <a:pt x="2951152" y="0"/>
                  </a:lnTo>
                  <a:lnTo>
                    <a:pt x="2951152" y="308144"/>
                  </a:lnTo>
                  <a:lnTo>
                    <a:pt x="0" y="308144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2951152" cy="336719"/>
            </a:xfrm>
            <a:prstGeom prst="rect">
              <a:avLst/>
            </a:prstGeom>
          </p:spPr>
          <p:txBody>
            <a:bodyPr anchor="ctr" rtlCol="false" tIns="28575" lIns="28575" bIns="28575" rIns="28575"/>
            <a:lstStyle/>
            <a:p>
              <a:pPr algn="ctr" marL="0" indent="0" lvl="0">
                <a:lnSpc>
                  <a:spcPts val="1496"/>
                </a:lnSpc>
              </a:pPr>
            </a:p>
          </p:txBody>
        </p:sp>
      </p:grpSp>
      <p:sp>
        <p:nvSpPr>
          <p:cNvPr name="AutoShape 13" id="13"/>
          <p:cNvSpPr/>
          <p:nvPr/>
        </p:nvSpPr>
        <p:spPr>
          <a:xfrm rot="0">
            <a:off x="11651828" y="-986329"/>
            <a:ext cx="385391" cy="3129946"/>
          </a:xfrm>
          <a:prstGeom prst="rect">
            <a:avLst/>
          </a:prstGeom>
          <a:solidFill>
            <a:srgbClr val="000000"/>
          </a:solidFill>
        </p:spPr>
      </p:sp>
      <p:sp>
        <p:nvSpPr>
          <p:cNvPr name="Freeform 14" id="14"/>
          <p:cNvSpPr/>
          <p:nvPr/>
        </p:nvSpPr>
        <p:spPr>
          <a:xfrm flipH="false" flipV="false" rot="0">
            <a:off x="6727830" y="490548"/>
            <a:ext cx="435254" cy="521546"/>
          </a:xfrm>
          <a:custGeom>
            <a:avLst/>
            <a:gdLst/>
            <a:ahLst/>
            <a:cxnLst/>
            <a:rect r="r" b="b" t="t" l="l"/>
            <a:pathLst>
              <a:path h="521546" w="435254">
                <a:moveTo>
                  <a:pt x="0" y="0"/>
                </a:moveTo>
                <a:lnTo>
                  <a:pt x="435253" y="0"/>
                </a:lnTo>
                <a:lnTo>
                  <a:pt x="435253" y="521546"/>
                </a:lnTo>
                <a:lnTo>
                  <a:pt x="0" y="5215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6727830" y="3643247"/>
            <a:ext cx="2183855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Core Technologies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006691" y="3643247"/>
            <a:ext cx="557937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727830" y="4369996"/>
            <a:ext cx="2183855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User Roles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006691" y="4369996"/>
            <a:ext cx="557937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05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727830" y="5096745"/>
            <a:ext cx="3204608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Architecture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006691" y="5096745"/>
            <a:ext cx="557937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06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727830" y="5823494"/>
            <a:ext cx="3504608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Features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006691" y="5823494"/>
            <a:ext cx="557937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07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727830" y="6550243"/>
            <a:ext cx="2618531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Database Design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006691" y="6550243"/>
            <a:ext cx="557937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08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727830" y="2916498"/>
            <a:ext cx="2183855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Executive Summary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006691" y="2916498"/>
            <a:ext cx="557937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727830" y="7276992"/>
            <a:ext cx="4013186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Mobile-First UI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006691" y="7276992"/>
            <a:ext cx="557937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09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27830" y="8003742"/>
            <a:ext cx="2618531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AI Integration &amp; Results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006691" y="8003742"/>
            <a:ext cx="557937" cy="29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304"/>
              </a:lnSpc>
            </a:pPr>
            <a:r>
              <a:rPr lang="en-US" b="true" sz="164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10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727830" y="1487933"/>
            <a:ext cx="3204608" cy="735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416"/>
              </a:lnSpc>
            </a:pPr>
            <a:r>
              <a:rPr lang="en-US" b="true" sz="5526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Contents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829425" y="9577440"/>
            <a:ext cx="3408332" cy="15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85"/>
              </a:lnSpc>
            </a:pPr>
            <a:r>
              <a:rPr lang="en-US" sz="98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Full-Stack Educational Platform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362335" y="710122"/>
            <a:ext cx="2570103" cy="1771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70"/>
              </a:lnSpc>
            </a:pPr>
            <a:r>
              <a:rPr lang="en-US" sz="1054" spc="147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AI CLASS MANAGEMENT SYSTEM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941752" y="2223052"/>
            <a:ext cx="5298668" cy="3375915"/>
            <a:chOff x="0" y="0"/>
            <a:chExt cx="1459382" cy="92980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59382" cy="929809"/>
            </a:xfrm>
            <a:custGeom>
              <a:avLst/>
              <a:gdLst/>
              <a:ahLst/>
              <a:cxnLst/>
              <a:rect r="r" b="b" t="t" l="l"/>
              <a:pathLst>
                <a:path h="929809" w="1459382">
                  <a:moveTo>
                    <a:pt x="0" y="0"/>
                  </a:moveTo>
                  <a:lnTo>
                    <a:pt x="1459382" y="0"/>
                  </a:lnTo>
                  <a:lnTo>
                    <a:pt x="1459382" y="929809"/>
                  </a:lnTo>
                  <a:lnTo>
                    <a:pt x="0" y="929809"/>
                  </a:lnTo>
                  <a:close/>
                </a:path>
              </a:pathLst>
            </a:custGeom>
            <a:blipFill>
              <a:blip r:embed="rId2"/>
              <a:stretch>
                <a:fillRect l="0" t="-2874" r="0" b="-2874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rot="0">
            <a:off x="10833177" y="483647"/>
            <a:ext cx="814487" cy="807168"/>
          </a:xfrm>
          <a:prstGeom prst="rect">
            <a:avLst/>
          </a:prstGeom>
          <a:solidFill>
            <a:srgbClr val="FFFFFF"/>
          </a:solidFill>
        </p:spPr>
      </p:sp>
      <p:sp>
        <p:nvSpPr>
          <p:cNvPr name="Freeform 5" id="5"/>
          <p:cNvSpPr/>
          <p:nvPr/>
        </p:nvSpPr>
        <p:spPr>
          <a:xfrm flipH="false" flipV="false" rot="0">
            <a:off x="6482086" y="552419"/>
            <a:ext cx="753385" cy="524886"/>
          </a:xfrm>
          <a:custGeom>
            <a:avLst/>
            <a:gdLst/>
            <a:ahLst/>
            <a:cxnLst/>
            <a:rect r="r" b="b" t="t" l="l"/>
            <a:pathLst>
              <a:path h="524886" w="753385">
                <a:moveTo>
                  <a:pt x="0" y="0"/>
                </a:moveTo>
                <a:lnTo>
                  <a:pt x="753385" y="0"/>
                </a:lnTo>
                <a:lnTo>
                  <a:pt x="753385" y="524886"/>
                </a:lnTo>
                <a:lnTo>
                  <a:pt x="0" y="5248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237757" y="5190078"/>
            <a:ext cx="817776" cy="817776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28575" lIns="28575" bIns="28575" rIns="28575"/>
            <a:lstStyle/>
            <a:p>
              <a:pPr algn="ctr" marL="0" indent="0" lvl="0">
                <a:lnSpc>
                  <a:spcPts val="149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-5400000">
            <a:off x="10471022" y="5361638"/>
            <a:ext cx="351247" cy="474658"/>
          </a:xfrm>
          <a:custGeom>
            <a:avLst/>
            <a:gdLst/>
            <a:ahLst/>
            <a:cxnLst/>
            <a:rect r="r" b="b" t="t" l="l"/>
            <a:pathLst>
              <a:path h="474658" w="351247">
                <a:moveTo>
                  <a:pt x="0" y="0"/>
                </a:moveTo>
                <a:lnTo>
                  <a:pt x="351247" y="0"/>
                </a:lnTo>
                <a:lnTo>
                  <a:pt x="351247" y="474658"/>
                </a:lnTo>
                <a:lnTo>
                  <a:pt x="0" y="47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6778627" y="6303876"/>
            <a:ext cx="4461793" cy="4783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7"/>
              </a:lnSpc>
            </a:pPr>
            <a:r>
              <a:rPr lang="en-US" b="true" sz="3589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Executive Summary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0223" y="7101834"/>
            <a:ext cx="4410995" cy="7608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07"/>
              </a:lnSpc>
              <a:spcBef>
                <a:spcPct val="0"/>
              </a:spcBef>
            </a:pPr>
            <a:r>
              <a:rPr lang="en-US" sz="107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 full-stack, enterprise-grade educational platform streamlining operations between Administrators, Faculty, and Students. Built with modern, scalable architecture featuring premium Mobile-First Glassmorphism UI for flawless cross-device experience.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29425" y="9552963"/>
            <a:ext cx="3408332" cy="1821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99"/>
              </a:lnSpc>
            </a:pPr>
            <a:r>
              <a:rPr lang="en-US" sz="1076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Page 3 of 10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362335" y="704770"/>
            <a:ext cx="2570103" cy="182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3"/>
              </a:lnSpc>
            </a:pPr>
            <a:r>
              <a:rPr lang="en-US" sz="1148" spc="16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 CLASS MANAGEMENT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900355" y="7474738"/>
            <a:ext cx="4487291" cy="1287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902"/>
              </a:lnSpc>
            </a:pPr>
            <a:r>
              <a:rPr lang="en-US" b="true" sz="5002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Core Frontend</a:t>
            </a:r>
          </a:p>
          <a:p>
            <a:pPr algn="ctr" marL="0" indent="0" lvl="0">
              <a:lnSpc>
                <a:spcPts val="4902"/>
              </a:lnSpc>
            </a:pPr>
            <a:r>
              <a:rPr lang="en-US" b="true" sz="5002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Technologies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829425" y="9503941"/>
            <a:ext cx="3408332" cy="231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744"/>
              </a:lnSpc>
            </a:pPr>
            <a:r>
              <a:rPr lang="en-US" sz="134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AI-Oriented Class Management System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99893" y="1587347"/>
            <a:ext cx="1688214" cy="1680626"/>
            <a:chOff x="0" y="0"/>
            <a:chExt cx="637720" cy="6348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37720" cy="634853"/>
            </a:xfrm>
            <a:custGeom>
              <a:avLst/>
              <a:gdLst/>
              <a:ahLst/>
              <a:cxnLst/>
              <a:rect r="r" b="b" t="t" l="l"/>
              <a:pathLst>
                <a:path h="634853" w="637720">
                  <a:moveTo>
                    <a:pt x="0" y="0"/>
                  </a:moveTo>
                  <a:lnTo>
                    <a:pt x="637720" y="0"/>
                  </a:lnTo>
                  <a:lnTo>
                    <a:pt x="637720" y="634853"/>
                  </a:lnTo>
                  <a:lnTo>
                    <a:pt x="0" y="634853"/>
                  </a:lnTo>
                  <a:close/>
                </a:path>
              </a:pathLst>
            </a:custGeom>
            <a:blipFill>
              <a:blip r:embed="rId2"/>
              <a:stretch>
                <a:fillRect l="0" t="-225" r="0" b="-225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050243" y="3374534"/>
            <a:ext cx="2187515" cy="285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99"/>
              </a:lnSpc>
              <a:spcBef>
                <a:spcPct val="0"/>
              </a:spcBef>
            </a:pPr>
            <a:r>
              <a:rPr lang="en-US" b="true" sz="1642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Vanilla JavaScript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299893" y="3776370"/>
            <a:ext cx="1688214" cy="285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99"/>
              </a:lnSpc>
              <a:spcBef>
                <a:spcPct val="0"/>
              </a:spcBef>
            </a:pPr>
            <a:r>
              <a:rPr lang="en-US" sz="1642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(CORE LOGIC)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079075" y="4441567"/>
            <a:ext cx="1688214" cy="1680626"/>
            <a:chOff x="0" y="0"/>
            <a:chExt cx="637720" cy="63485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7720" cy="634853"/>
            </a:xfrm>
            <a:custGeom>
              <a:avLst/>
              <a:gdLst/>
              <a:ahLst/>
              <a:cxnLst/>
              <a:rect r="r" b="b" t="t" l="l"/>
              <a:pathLst>
                <a:path h="634853" w="637720">
                  <a:moveTo>
                    <a:pt x="0" y="0"/>
                  </a:moveTo>
                  <a:lnTo>
                    <a:pt x="637720" y="0"/>
                  </a:lnTo>
                  <a:lnTo>
                    <a:pt x="637720" y="634853"/>
                  </a:lnTo>
                  <a:lnTo>
                    <a:pt x="0" y="634853"/>
                  </a:lnTo>
                  <a:close/>
                </a:path>
              </a:pathLst>
            </a:custGeom>
            <a:blipFill>
              <a:blip r:embed="rId3"/>
              <a:stretch>
                <a:fillRect l="0" t="-225" r="0" b="-225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29425" y="6228753"/>
            <a:ext cx="2187515" cy="285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99"/>
              </a:lnSpc>
              <a:spcBef>
                <a:spcPct val="0"/>
              </a:spcBef>
            </a:pPr>
            <a:r>
              <a:rPr lang="en-US" b="true" sz="1642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HTML5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079075" y="6630589"/>
            <a:ext cx="1688214" cy="239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878"/>
              </a:lnSpc>
              <a:spcBef>
                <a:spcPct val="0"/>
              </a:spcBef>
            </a:pPr>
            <a:r>
              <a:rPr lang="en-US" sz="1341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(Structure)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520710" y="4441567"/>
            <a:ext cx="1688214" cy="1680626"/>
            <a:chOff x="0" y="0"/>
            <a:chExt cx="637720" cy="63485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7720" cy="634853"/>
            </a:xfrm>
            <a:custGeom>
              <a:avLst/>
              <a:gdLst/>
              <a:ahLst/>
              <a:cxnLst/>
              <a:rect r="r" b="b" t="t" l="l"/>
              <a:pathLst>
                <a:path h="634853" w="637720">
                  <a:moveTo>
                    <a:pt x="0" y="0"/>
                  </a:moveTo>
                  <a:lnTo>
                    <a:pt x="637720" y="0"/>
                  </a:lnTo>
                  <a:lnTo>
                    <a:pt x="637720" y="634853"/>
                  </a:lnTo>
                  <a:lnTo>
                    <a:pt x="0" y="634853"/>
                  </a:lnTo>
                  <a:close/>
                </a:path>
              </a:pathLst>
            </a:custGeom>
            <a:blipFill>
              <a:blip r:embed="rId4"/>
              <a:stretch>
                <a:fillRect l="0" t="-225" r="0" b="-225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271060" y="6228753"/>
            <a:ext cx="2187515" cy="285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99"/>
              </a:lnSpc>
              <a:spcBef>
                <a:spcPct val="0"/>
              </a:spcBef>
            </a:pPr>
            <a:r>
              <a:rPr lang="en-US" b="true" sz="1642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Glassmorphism CSS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520710" y="6630589"/>
            <a:ext cx="1688214" cy="239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878"/>
              </a:lnSpc>
              <a:spcBef>
                <a:spcPct val="0"/>
              </a:spcBef>
            </a:pPr>
            <a:r>
              <a:rPr lang="en-US" sz="1341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(UI Design)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6500158" y="551394"/>
            <a:ext cx="716762" cy="521610"/>
          </a:xfrm>
          <a:custGeom>
            <a:avLst/>
            <a:gdLst/>
            <a:ahLst/>
            <a:cxnLst/>
            <a:rect r="r" b="b" t="t" l="l"/>
            <a:pathLst>
              <a:path h="521610" w="716762">
                <a:moveTo>
                  <a:pt x="0" y="0"/>
                </a:moveTo>
                <a:lnTo>
                  <a:pt x="716762" y="0"/>
                </a:lnTo>
                <a:lnTo>
                  <a:pt x="716762" y="521610"/>
                </a:lnTo>
                <a:lnTo>
                  <a:pt x="0" y="5216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7362335" y="596937"/>
            <a:ext cx="2570103" cy="290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77"/>
              </a:lnSpc>
            </a:pPr>
            <a:r>
              <a:rPr lang="en-US" sz="1751" spc="24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TECH STACK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11629975" y="-434896"/>
            <a:ext cx="814487" cy="2893980"/>
          </a:xfrm>
          <a:prstGeom prst="rect">
            <a:avLst/>
          </a:prstGeom>
          <a:solidFill>
            <a:srgbClr val="FFFFFF"/>
          </a:solidFill>
        </p:spPr>
      </p:sp>
      <p:sp>
        <p:nvSpPr>
          <p:cNvPr name="AutoShape 19" id="19"/>
          <p:cNvSpPr/>
          <p:nvPr/>
        </p:nvSpPr>
        <p:spPr>
          <a:xfrm rot="0">
            <a:off x="5763121" y="5952000"/>
            <a:ext cx="814487" cy="2893980"/>
          </a:xfrm>
          <a:prstGeom prst="rect">
            <a:avLst/>
          </a:prstGeom>
          <a:solidFill>
            <a:srgbClr val="FFFFFF"/>
          </a:solid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5764063" y="-421033"/>
            <a:ext cx="6759874" cy="3129946"/>
          </a:xfrm>
          <a:prstGeom prst="rect">
            <a:avLst/>
          </a:prstGeom>
          <a:solidFill>
            <a:srgbClr val="000000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6829425" y="1197518"/>
            <a:ext cx="4629150" cy="2349001"/>
            <a:chOff x="0" y="0"/>
            <a:chExt cx="1274980" cy="64697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74980" cy="646972"/>
            </a:xfrm>
            <a:custGeom>
              <a:avLst/>
              <a:gdLst/>
              <a:ahLst/>
              <a:cxnLst/>
              <a:rect r="r" b="b" t="t" l="l"/>
              <a:pathLst>
                <a:path h="646972" w="1274980">
                  <a:moveTo>
                    <a:pt x="0" y="0"/>
                  </a:moveTo>
                  <a:lnTo>
                    <a:pt x="1274980" y="0"/>
                  </a:lnTo>
                  <a:lnTo>
                    <a:pt x="1274980" y="646972"/>
                  </a:lnTo>
                  <a:lnTo>
                    <a:pt x="0" y="646972"/>
                  </a:lnTo>
                  <a:close/>
                </a:path>
              </a:pathLst>
            </a:custGeom>
            <a:blipFill>
              <a:blip r:embed="rId2"/>
              <a:stretch>
                <a:fillRect l="0" t="-6164" r="0" b="-6164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6829425" y="4176955"/>
            <a:ext cx="3791061" cy="796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187"/>
              </a:lnSpc>
            </a:pPr>
            <a:r>
              <a:rPr lang="en-US" b="true" sz="5624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User Roles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29425" y="5932523"/>
            <a:ext cx="4410995" cy="1157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816"/>
              </a:lnSpc>
              <a:spcBef>
                <a:spcPct val="0"/>
              </a:spcBef>
            </a:pPr>
            <a:r>
              <a:rPr lang="en-US" sz="1297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Administrator role provides complete system management and oversight capabilities. Admins can manage user accounts, configure system settings, monitor platform activity, and ensure smooth operations across the entire educational ecosystem.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29425" y="5583083"/>
            <a:ext cx="804094" cy="147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210"/>
              </a:lnSpc>
              <a:spcBef>
                <a:spcPct val="0"/>
              </a:spcBef>
            </a:pPr>
            <a:r>
              <a:rPr lang="en-US" b="true" sz="864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Administrator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829425" y="7710118"/>
            <a:ext cx="4410995" cy="926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816"/>
              </a:lnSpc>
              <a:spcBef>
                <a:spcPct val="0"/>
              </a:spcBef>
            </a:pPr>
            <a:r>
              <a:rPr lang="en-US" sz="1297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 account creation and management, system configuration, data oversight, security monitoring, and coordinating between Faculty and Students to maintain an efficient learning environment.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829425" y="7360678"/>
            <a:ext cx="1645526" cy="147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210"/>
              </a:lnSpc>
              <a:spcBef>
                <a:spcPct val="0"/>
              </a:spcBef>
            </a:pPr>
            <a:r>
              <a:rPr lang="en-US" b="true" sz="864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Key Responsibilities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829425" y="9523621"/>
            <a:ext cx="3408332" cy="211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86"/>
              </a:lnSpc>
            </a:pPr>
            <a:r>
              <a:rPr lang="en-US" sz="129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AI-Oriented Class Management System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6727830" y="490548"/>
            <a:ext cx="435254" cy="521546"/>
          </a:xfrm>
          <a:custGeom>
            <a:avLst/>
            <a:gdLst/>
            <a:ahLst/>
            <a:cxnLst/>
            <a:rect r="r" b="b" t="t" l="l"/>
            <a:pathLst>
              <a:path h="521546" w="435254">
                <a:moveTo>
                  <a:pt x="0" y="0"/>
                </a:moveTo>
                <a:lnTo>
                  <a:pt x="435253" y="0"/>
                </a:lnTo>
                <a:lnTo>
                  <a:pt x="435253" y="521546"/>
                </a:lnTo>
                <a:lnTo>
                  <a:pt x="0" y="52154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362335" y="739403"/>
            <a:ext cx="2570103" cy="147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99"/>
              </a:lnSpc>
            </a:pPr>
            <a:r>
              <a:rPr lang="en-US" sz="922" spc="12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 CLASS MANAGER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049687" y="3137631"/>
            <a:ext cx="817776" cy="817776"/>
            <a:chOff x="0" y="0"/>
            <a:chExt cx="1090369" cy="1090369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1090369" cy="1090369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496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-5400000">
              <a:off x="311020" y="228746"/>
              <a:ext cx="468329" cy="632877"/>
            </a:xfrm>
            <a:custGeom>
              <a:avLst/>
              <a:gdLst/>
              <a:ahLst/>
              <a:cxnLst/>
              <a:rect r="r" b="b" t="t" l="l"/>
              <a:pathLst>
                <a:path h="632877" w="468329">
                  <a:moveTo>
                    <a:pt x="0" y="0"/>
                  </a:moveTo>
                  <a:lnTo>
                    <a:pt x="468329" y="0"/>
                  </a:lnTo>
                  <a:lnTo>
                    <a:pt x="468329" y="632877"/>
                  </a:lnTo>
                  <a:lnTo>
                    <a:pt x="0" y="632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-5400000">
            <a:off x="5295196" y="3641853"/>
            <a:ext cx="4025122" cy="6783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993"/>
              </a:lnSpc>
            </a:pPr>
            <a:r>
              <a:rPr lang="en-US" b="true" sz="5095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Architecture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7863244" y="1624606"/>
            <a:ext cx="2561512" cy="4753147"/>
            <a:chOff x="0" y="0"/>
            <a:chExt cx="705503" cy="130913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05503" cy="1309132"/>
            </a:xfrm>
            <a:custGeom>
              <a:avLst/>
              <a:gdLst/>
              <a:ahLst/>
              <a:cxnLst/>
              <a:rect r="r" b="b" t="t" l="l"/>
              <a:pathLst>
                <a:path h="1309132" w="705503">
                  <a:moveTo>
                    <a:pt x="0" y="0"/>
                  </a:moveTo>
                  <a:lnTo>
                    <a:pt x="705503" y="0"/>
                  </a:lnTo>
                  <a:lnTo>
                    <a:pt x="705503" y="1309132"/>
                  </a:lnTo>
                  <a:lnTo>
                    <a:pt x="0" y="1309132"/>
                  </a:lnTo>
                  <a:close/>
                </a:path>
              </a:pathLst>
            </a:custGeom>
            <a:blipFill>
              <a:blip r:embed="rId2"/>
              <a:stretch>
                <a:fillRect l="-2884" t="0" r="-2884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6938502" y="7010325"/>
            <a:ext cx="4410995" cy="1940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49"/>
              </a:lnSpc>
              <a:spcBef>
                <a:spcPct val="0"/>
              </a:spcBef>
            </a:pPr>
            <a:r>
              <a:rPr lang="en-US" sz="1606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Built on a modern, scalable architecture featuring Aiven MySQL cloud database for reliable data persistence, RESTful API design with Express.js for seamless communication, and a modular component structure enabling easy maintenance and future expansion.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6727830" y="490548"/>
            <a:ext cx="435254" cy="521546"/>
          </a:xfrm>
          <a:custGeom>
            <a:avLst/>
            <a:gdLst/>
            <a:ahLst/>
            <a:cxnLst/>
            <a:rect r="r" b="b" t="t" l="l"/>
            <a:pathLst>
              <a:path h="521546" w="435254">
                <a:moveTo>
                  <a:pt x="0" y="0"/>
                </a:moveTo>
                <a:lnTo>
                  <a:pt x="435253" y="0"/>
                </a:lnTo>
                <a:lnTo>
                  <a:pt x="435253" y="521546"/>
                </a:lnTo>
                <a:lnTo>
                  <a:pt x="0" y="52154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7362335" y="577295"/>
            <a:ext cx="2570103" cy="309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8"/>
              </a:lnSpc>
            </a:pPr>
            <a:r>
              <a:rPr lang="en-US" sz="1798" spc="25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AI CLASS SYSTEM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11651828" y="-986329"/>
            <a:ext cx="385391" cy="3129946"/>
          </a:xfrm>
          <a:prstGeom prst="rect">
            <a:avLst/>
          </a:prstGeom>
          <a:solidFill>
            <a:srgbClr val="000000"/>
          </a:solid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829425" y="4624928"/>
            <a:ext cx="4487291" cy="735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422"/>
              </a:lnSpc>
            </a:pPr>
            <a:r>
              <a:rPr lang="en-US" b="true" sz="5532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Key Features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829425" y="5482072"/>
            <a:ext cx="4156016" cy="1029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064"/>
              </a:lnSpc>
              <a:spcBef>
                <a:spcPct val="0"/>
              </a:spcBef>
            </a:pPr>
            <a:r>
              <a:rPr lang="en-US" sz="147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PDF Exam Script Handling with Multer for seamless file uploads, Real-time Dashboard analytics, and Cross-device Responsive Design for flawless mobile-first experience.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564958" y="565831"/>
            <a:ext cx="585966" cy="524746"/>
          </a:xfrm>
          <a:custGeom>
            <a:avLst/>
            <a:gdLst/>
            <a:ahLst/>
            <a:cxnLst/>
            <a:rect r="r" b="b" t="t" l="l"/>
            <a:pathLst>
              <a:path h="524746" w="585966">
                <a:moveTo>
                  <a:pt x="0" y="0"/>
                </a:moveTo>
                <a:lnTo>
                  <a:pt x="585966" y="0"/>
                </a:lnTo>
                <a:lnTo>
                  <a:pt x="585966" y="524746"/>
                </a:lnTo>
                <a:lnTo>
                  <a:pt x="0" y="5247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362335" y="577295"/>
            <a:ext cx="2570103" cy="309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8"/>
              </a:lnSpc>
            </a:pPr>
            <a:r>
              <a:rPr lang="en-US" sz="1798" spc="25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AI CLASS SYSTEM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6829425" y="2137146"/>
            <a:ext cx="2314575" cy="2094022"/>
            <a:chOff x="0" y="0"/>
            <a:chExt cx="637490" cy="5767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37490" cy="576744"/>
            </a:xfrm>
            <a:custGeom>
              <a:avLst/>
              <a:gdLst/>
              <a:ahLst/>
              <a:cxnLst/>
              <a:rect r="r" b="b" t="t" l="l"/>
              <a:pathLst>
                <a:path h="576744" w="637490">
                  <a:moveTo>
                    <a:pt x="0" y="0"/>
                  </a:moveTo>
                  <a:lnTo>
                    <a:pt x="637490" y="0"/>
                  </a:lnTo>
                  <a:lnTo>
                    <a:pt x="637490" y="576744"/>
                  </a:lnTo>
                  <a:lnTo>
                    <a:pt x="0" y="576744"/>
                  </a:lnTo>
                  <a:close/>
                </a:path>
              </a:pathLst>
            </a:custGeom>
            <a:blipFill>
              <a:blip r:embed="rId3"/>
              <a:stretch>
                <a:fillRect l="0" t="-5266" r="0" b="-5266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666372" y="751313"/>
            <a:ext cx="2580306" cy="3395278"/>
            <a:chOff x="0" y="0"/>
            <a:chExt cx="637490" cy="83883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7490" cy="838837"/>
            </a:xfrm>
            <a:custGeom>
              <a:avLst/>
              <a:gdLst/>
              <a:ahLst/>
              <a:cxnLst/>
              <a:rect r="r" b="b" t="t" l="l"/>
              <a:pathLst>
                <a:path h="838837" w="637490">
                  <a:moveTo>
                    <a:pt x="0" y="0"/>
                  </a:moveTo>
                  <a:lnTo>
                    <a:pt x="637490" y="0"/>
                  </a:lnTo>
                  <a:lnTo>
                    <a:pt x="637490" y="838837"/>
                  </a:lnTo>
                  <a:lnTo>
                    <a:pt x="0" y="838837"/>
                  </a:lnTo>
                  <a:close/>
                </a:path>
              </a:pathLst>
            </a:custGeom>
            <a:blipFill>
              <a:blip r:embed="rId4"/>
              <a:stretch>
                <a:fillRect l="0" t="-919" r="0" b="-919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829425" y="7066955"/>
            <a:ext cx="4629150" cy="1897418"/>
            <a:chOff x="0" y="0"/>
            <a:chExt cx="1143677" cy="4687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43677" cy="468776"/>
            </a:xfrm>
            <a:custGeom>
              <a:avLst/>
              <a:gdLst/>
              <a:ahLst/>
              <a:cxnLst/>
              <a:rect r="r" b="b" t="t" l="l"/>
              <a:pathLst>
                <a:path h="468776" w="1143677">
                  <a:moveTo>
                    <a:pt x="0" y="0"/>
                  </a:moveTo>
                  <a:lnTo>
                    <a:pt x="1143677" y="0"/>
                  </a:lnTo>
                  <a:lnTo>
                    <a:pt x="1143677" y="468776"/>
                  </a:lnTo>
                  <a:lnTo>
                    <a:pt x="0" y="468776"/>
                  </a:lnTo>
                  <a:close/>
                </a:path>
              </a:pathLst>
            </a:custGeom>
            <a:blipFill>
              <a:blip r:embed="rId5"/>
              <a:stretch>
                <a:fillRect l="0" t="-19531" r="0" b="-19531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829425" y="9484193"/>
            <a:ext cx="3408332" cy="250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16"/>
              </a:lnSpc>
            </a:pPr>
            <a:r>
              <a:rPr lang="en-US" sz="147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www.aiclassmanagement.com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8735112" y="1728258"/>
            <a:ext cx="817776" cy="817776"/>
            <a:chOff x="0" y="0"/>
            <a:chExt cx="1090369" cy="1090369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1090369" cy="1090369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496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-5400000">
              <a:off x="311020" y="228746"/>
              <a:ext cx="468329" cy="632877"/>
            </a:xfrm>
            <a:custGeom>
              <a:avLst/>
              <a:gdLst/>
              <a:ahLst/>
              <a:cxnLst/>
              <a:rect r="r" b="b" t="t" l="l"/>
              <a:pathLst>
                <a:path h="632877" w="468329">
                  <a:moveTo>
                    <a:pt x="0" y="0"/>
                  </a:moveTo>
                  <a:lnTo>
                    <a:pt x="468329" y="0"/>
                  </a:lnTo>
                  <a:lnTo>
                    <a:pt x="468329" y="632877"/>
                  </a:lnTo>
                  <a:lnTo>
                    <a:pt x="0" y="632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52532" y="2892914"/>
            <a:ext cx="4730745" cy="457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44"/>
              </a:lnSpc>
            </a:pPr>
            <a:r>
              <a:rPr lang="en-US" b="true" sz="3412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Development Journey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052532" y="4068539"/>
            <a:ext cx="4410995" cy="1332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2"/>
              </a:lnSpc>
              <a:spcBef>
                <a:spcPct val="0"/>
              </a:spcBef>
            </a:pPr>
            <a:r>
              <a:rPr lang="en-US" sz="154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Planning &amp; Architecture: Requirements gathering, database schema design, and system architecture. Backend Setup: Node.js/Express API development with Aiven MySQL integration.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052532" y="3700049"/>
            <a:ext cx="804094" cy="193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33"/>
              </a:lnSpc>
              <a:spcBef>
                <a:spcPct val="0"/>
              </a:spcBef>
            </a:pPr>
            <a:r>
              <a:rPr lang="en-US" b="true" sz="1023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Phase 1-3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052532" y="6086943"/>
            <a:ext cx="4410995" cy="1065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2"/>
              </a:lnSpc>
              <a:spcBef>
                <a:spcPct val="0"/>
              </a:spcBef>
            </a:pPr>
            <a:r>
              <a:rPr lang="en-US" sz="154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Frontend Design: Mobile-first Glassmorphism UI with vanilla JS. AI Integration: Smart features for class management. Testing &amp; Deployment: QA and cloud deployment.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052532" y="5718453"/>
            <a:ext cx="804094" cy="193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33"/>
              </a:lnSpc>
              <a:spcBef>
                <a:spcPct val="0"/>
              </a:spcBef>
            </a:pPr>
            <a:r>
              <a:rPr lang="en-US" b="true" sz="1023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Phase 4-6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1495544" y="3092991"/>
            <a:ext cx="3710124" cy="3993215"/>
            <a:chOff x="0" y="0"/>
            <a:chExt cx="589847" cy="63485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89847" cy="634853"/>
            </a:xfrm>
            <a:custGeom>
              <a:avLst/>
              <a:gdLst/>
              <a:ahLst/>
              <a:cxnLst/>
              <a:rect r="r" b="b" t="t" l="l"/>
              <a:pathLst>
                <a:path h="634853" w="589847">
                  <a:moveTo>
                    <a:pt x="0" y="0"/>
                  </a:moveTo>
                  <a:lnTo>
                    <a:pt x="589847" y="0"/>
                  </a:lnTo>
                  <a:lnTo>
                    <a:pt x="589847" y="634853"/>
                  </a:lnTo>
                  <a:lnTo>
                    <a:pt x="0" y="634853"/>
                  </a:lnTo>
                  <a:close/>
                </a:path>
              </a:pathLst>
            </a:custGeom>
            <a:blipFill>
              <a:blip r:embed="rId2"/>
              <a:stretch>
                <a:fillRect l="-44412" t="0" r="-44412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4749196" y="1693167"/>
            <a:ext cx="664444" cy="521581"/>
          </a:xfrm>
          <a:custGeom>
            <a:avLst/>
            <a:gdLst/>
            <a:ahLst/>
            <a:cxnLst/>
            <a:rect r="r" b="b" t="t" l="l"/>
            <a:pathLst>
              <a:path h="521581" w="664444">
                <a:moveTo>
                  <a:pt x="0" y="0"/>
                </a:moveTo>
                <a:lnTo>
                  <a:pt x="664444" y="0"/>
                </a:lnTo>
                <a:lnTo>
                  <a:pt x="664444" y="521582"/>
                </a:lnTo>
                <a:lnTo>
                  <a:pt x="0" y="521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5585441" y="1735543"/>
            <a:ext cx="2570103" cy="310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8"/>
              </a:lnSpc>
            </a:pPr>
            <a:r>
              <a:rPr lang="en-US" sz="1798" spc="25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 CLASS SYSTEM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070647" y="4992008"/>
            <a:ext cx="817776" cy="817776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28575" lIns="28575" bIns="28575" rIns="28575"/>
            <a:lstStyle/>
            <a:p>
              <a:pPr algn="l" marL="0" indent="0" lvl="0">
                <a:lnSpc>
                  <a:spcPts val="1496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-5400000">
            <a:off x="10303912" y="5163568"/>
            <a:ext cx="351247" cy="474658"/>
          </a:xfrm>
          <a:custGeom>
            <a:avLst/>
            <a:gdLst/>
            <a:ahLst/>
            <a:cxnLst/>
            <a:rect r="r" b="b" t="t" l="l"/>
            <a:pathLst>
              <a:path h="474658" w="351247">
                <a:moveTo>
                  <a:pt x="0" y="0"/>
                </a:moveTo>
                <a:lnTo>
                  <a:pt x="351247" y="0"/>
                </a:lnTo>
                <a:lnTo>
                  <a:pt x="351247" y="474657"/>
                </a:lnTo>
                <a:lnTo>
                  <a:pt x="0" y="4746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6479632" y="4062664"/>
            <a:ext cx="5328738" cy="4999046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6829425" y="1836848"/>
            <a:ext cx="4629150" cy="1883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20"/>
              </a:lnSpc>
            </a:pPr>
            <a:r>
              <a:rPr lang="en-US" b="true" sz="4472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System Performance Metrics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727830" y="490548"/>
            <a:ext cx="435254" cy="521546"/>
          </a:xfrm>
          <a:custGeom>
            <a:avLst/>
            <a:gdLst/>
            <a:ahLst/>
            <a:cxnLst/>
            <a:rect r="r" b="b" t="t" l="l"/>
            <a:pathLst>
              <a:path h="521546" w="435254">
                <a:moveTo>
                  <a:pt x="0" y="0"/>
                </a:moveTo>
                <a:lnTo>
                  <a:pt x="435253" y="0"/>
                </a:lnTo>
                <a:lnTo>
                  <a:pt x="435253" y="521546"/>
                </a:lnTo>
                <a:lnTo>
                  <a:pt x="0" y="52154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362335" y="650614"/>
            <a:ext cx="2570103" cy="2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860"/>
              </a:lnSpc>
            </a:pPr>
            <a:r>
              <a:rPr lang="en-US" sz="1431" spc="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 CLASS MANAGEMENT</a:t>
            </a:r>
          </a:p>
        </p:txBody>
      </p:sp>
      <p:sp>
        <p:nvSpPr>
          <p:cNvPr name="AutoShape 6" id="6"/>
          <p:cNvSpPr/>
          <p:nvPr/>
        </p:nvSpPr>
        <p:spPr>
          <a:xfrm rot="0">
            <a:off x="9684060" y="-434896"/>
            <a:ext cx="2760402" cy="925444"/>
          </a:xfrm>
          <a:prstGeom prst="rect">
            <a:avLst/>
          </a:prstGeom>
          <a:solidFill>
            <a:srgbClr val="FFFFFF"/>
          </a:solid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946591" y="3977699"/>
            <a:ext cx="4394819" cy="564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375"/>
              </a:lnSpc>
            </a:pPr>
            <a:r>
              <a:rPr lang="en-US" b="true" sz="3977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Thank You!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829425" y="9587258"/>
            <a:ext cx="3408332" cy="1478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93"/>
              </a:lnSpc>
            </a:pPr>
            <a:r>
              <a:rPr lang="en-US" sz="91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Visit our platform today 🚀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328140" y="5629045"/>
            <a:ext cx="3631719" cy="157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72"/>
              </a:lnSpc>
            </a:pPr>
            <a:r>
              <a:rPr lang="en-US" sz="979" spc="137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DAHHyJDmVQM</dc:identifier>
  <dcterms:modified xsi:type="dcterms:W3CDTF">2011-08-01T06:04:30Z</dcterms:modified>
  <cp:revision>1</cp:revision>
  <dc:title>AI-Oriented Class Management System</dc:title>
</cp:coreProperties>
</file>